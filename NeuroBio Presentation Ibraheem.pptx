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91"/>
    <p:restoredTop sz="94673"/>
  </p:normalViewPr>
  <p:slideViewPr>
    <p:cSldViewPr snapToGrid="0">
      <p:cViewPr varScale="1">
        <p:scale>
          <a:sx n="107" d="100"/>
          <a:sy n="107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D436D7-C143-3145-A3D0-E9B14B196590}" type="datetimeFigureOut">
              <a:rPr lang="en-PK" smtClean="0"/>
              <a:t>05/01/2026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626CB8-1B4F-C045-B6E2-12D4F20E3BA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23139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074D-DDE6-0E4F-A161-F83090D47953}" type="datetimeFigureOut">
              <a:rPr lang="en-PK" smtClean="0"/>
              <a:t>05/01/2026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471962EB-B639-BC4C-B33F-B37FC318CD7E}" type="slidenum">
              <a:rPr lang="en-PK" smtClean="0"/>
              <a:t>‹#›</a:t>
            </a:fld>
            <a:endParaRPr lang="en-PK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6571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074D-DDE6-0E4F-A161-F83090D47953}" type="datetimeFigureOut">
              <a:rPr lang="en-PK" smtClean="0"/>
              <a:t>05/01/2026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962EB-B639-BC4C-B33F-B37FC318CD7E}" type="slidenum">
              <a:rPr lang="en-PK" smtClean="0"/>
              <a:t>‹#›</a:t>
            </a:fld>
            <a:endParaRPr lang="en-PK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5165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074D-DDE6-0E4F-A161-F83090D47953}" type="datetimeFigureOut">
              <a:rPr lang="en-PK" smtClean="0"/>
              <a:t>05/01/2026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962EB-B639-BC4C-B33F-B37FC318CD7E}" type="slidenum">
              <a:rPr lang="en-PK" smtClean="0"/>
              <a:t>‹#›</a:t>
            </a:fld>
            <a:endParaRPr lang="en-PK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6878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074D-DDE6-0E4F-A161-F83090D47953}" type="datetimeFigureOut">
              <a:rPr lang="en-PK" smtClean="0"/>
              <a:t>05/01/2026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962EB-B639-BC4C-B33F-B37FC318CD7E}" type="slidenum">
              <a:rPr lang="en-PK" smtClean="0"/>
              <a:t>‹#›</a:t>
            </a:fld>
            <a:endParaRPr lang="en-PK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1824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074D-DDE6-0E4F-A161-F83090D47953}" type="datetimeFigureOut">
              <a:rPr lang="en-PK" smtClean="0"/>
              <a:t>05/01/2026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962EB-B639-BC4C-B33F-B37FC318CD7E}" type="slidenum">
              <a:rPr lang="en-PK" smtClean="0"/>
              <a:t>‹#›</a:t>
            </a:fld>
            <a:endParaRPr lang="en-PK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3939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074D-DDE6-0E4F-A161-F83090D47953}" type="datetimeFigureOut">
              <a:rPr lang="en-PK" smtClean="0"/>
              <a:t>05/01/2026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962EB-B639-BC4C-B33F-B37FC318CD7E}" type="slidenum">
              <a:rPr lang="en-PK" smtClean="0"/>
              <a:t>‹#›</a:t>
            </a:fld>
            <a:endParaRPr lang="en-PK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8485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074D-DDE6-0E4F-A161-F83090D47953}" type="datetimeFigureOut">
              <a:rPr lang="en-PK" smtClean="0"/>
              <a:t>05/01/2026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962EB-B639-BC4C-B33F-B37FC318CD7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42470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074D-DDE6-0E4F-A161-F83090D47953}" type="datetimeFigureOut">
              <a:rPr lang="en-PK" smtClean="0"/>
              <a:t>05/01/2026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962EB-B639-BC4C-B33F-B37FC318CD7E}" type="slidenum">
              <a:rPr lang="en-PK" smtClean="0"/>
              <a:t>‹#›</a:t>
            </a:fld>
            <a:endParaRPr lang="en-PK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034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3CA2074D-DDE6-0E4F-A161-F83090D47953}" type="datetimeFigureOut">
              <a:rPr lang="en-PK" smtClean="0"/>
              <a:t>05/01/2026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962EB-B639-BC4C-B33F-B37FC318CD7E}" type="slidenum">
              <a:rPr lang="en-PK" smtClean="0"/>
              <a:t>‹#›</a:t>
            </a:fld>
            <a:endParaRPr lang="en-PK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3757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074D-DDE6-0E4F-A161-F83090D47953}" type="datetimeFigureOut">
              <a:rPr lang="en-PK" smtClean="0"/>
              <a:t>05/01/2026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962EB-B639-BC4C-B33F-B37FC318CD7E}" type="slidenum">
              <a:rPr lang="en-PK" smtClean="0"/>
              <a:t>‹#›</a:t>
            </a:fld>
            <a:endParaRPr lang="en-PK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7424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2074D-DDE6-0E4F-A161-F83090D47953}" type="datetimeFigureOut">
              <a:rPr lang="en-PK" smtClean="0"/>
              <a:t>05/01/2026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962EB-B639-BC4C-B33F-B37FC318CD7E}" type="slidenum">
              <a:rPr lang="en-PK" smtClean="0"/>
              <a:t>‹#›</a:t>
            </a:fld>
            <a:endParaRPr lang="en-PK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5861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A2074D-DDE6-0E4F-A161-F83090D47953}" type="datetimeFigureOut">
              <a:rPr lang="en-PK" smtClean="0"/>
              <a:t>05/01/2026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71962EB-B639-BC4C-B33F-B37FC318CD7E}" type="slidenum">
              <a:rPr lang="en-PK" smtClean="0"/>
              <a:t>‹#›</a:t>
            </a:fld>
            <a:endParaRPr lang="en-PK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6645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F1342-99B8-CA68-F86C-1FD6500B7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41912"/>
            <a:ext cx="9603275" cy="511842"/>
          </a:xfrm>
        </p:spPr>
        <p:txBody>
          <a:bodyPr>
            <a:normAutofit fontScale="90000"/>
          </a:bodyPr>
          <a:lstStyle/>
          <a:p>
            <a:pPr algn="ctr"/>
            <a:r>
              <a:rPr lang="en-PK" dirty="0"/>
              <a:t>On the DMN and FMRI</a:t>
            </a:r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7FFED77B-23C8-894A-DD88-3067164019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62412" y="2096294"/>
            <a:ext cx="4381500" cy="3289300"/>
          </a:xfrm>
        </p:spPr>
      </p:pic>
    </p:spTree>
    <p:extLst>
      <p:ext uri="{BB962C8B-B14F-4D97-AF65-F5344CB8AC3E}">
        <p14:creationId xmlns:p14="http://schemas.microsoft.com/office/powerpoint/2010/main" val="1998403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F681C1C3-9D55-D212-F0D4-105954C3C770}"/>
              </a:ext>
            </a:extLst>
          </p:cNvPr>
          <p:cNvSpPr/>
          <p:nvPr/>
        </p:nvSpPr>
        <p:spPr>
          <a:xfrm>
            <a:off x="8001000" y="-36618"/>
            <a:ext cx="1457325" cy="14225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K" dirty="0"/>
              <a:t>mPFC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FA54FC4-8AE4-2E93-1738-2E4C9319F041}"/>
              </a:ext>
            </a:extLst>
          </p:cNvPr>
          <p:cNvSpPr/>
          <p:nvPr/>
        </p:nvSpPr>
        <p:spPr>
          <a:xfrm>
            <a:off x="5629275" y="4314817"/>
            <a:ext cx="1618875" cy="1500187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K" dirty="0"/>
              <a:t>RIPC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C6B16A5-C8E9-5120-FCE8-DC149582A650}"/>
              </a:ext>
            </a:extLst>
          </p:cNvPr>
          <p:cNvSpPr/>
          <p:nvPr/>
        </p:nvSpPr>
        <p:spPr>
          <a:xfrm>
            <a:off x="10129837" y="4314817"/>
            <a:ext cx="1618875" cy="155733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K" dirty="0"/>
              <a:t>LIPC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255540D-5CD4-546F-43DF-AA3863D90BBA}"/>
              </a:ext>
            </a:extLst>
          </p:cNvPr>
          <p:cNvSpPr/>
          <p:nvPr/>
        </p:nvSpPr>
        <p:spPr>
          <a:xfrm>
            <a:off x="8158162" y="2400300"/>
            <a:ext cx="1143000" cy="10287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PK" dirty="0"/>
              <a:t>PCC</a:t>
            </a:r>
          </a:p>
        </p:txBody>
      </p:sp>
      <p:sp>
        <p:nvSpPr>
          <p:cNvPr id="26" name="Up-down Arrow 25">
            <a:extLst>
              <a:ext uri="{FF2B5EF4-FFF2-40B4-BE49-F238E27FC236}">
                <a16:creationId xmlns:a16="http://schemas.microsoft.com/office/drawing/2014/main" id="{8C991690-DBD1-F9DE-1BC6-A82DE995EB04}"/>
              </a:ext>
            </a:extLst>
          </p:cNvPr>
          <p:cNvSpPr/>
          <p:nvPr/>
        </p:nvSpPr>
        <p:spPr>
          <a:xfrm rot="1645672">
            <a:off x="7169950" y="1027855"/>
            <a:ext cx="360207" cy="3394803"/>
          </a:xfrm>
          <a:prstGeom prst="up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27" name="Up-down Arrow 26">
            <a:extLst>
              <a:ext uri="{FF2B5EF4-FFF2-40B4-BE49-F238E27FC236}">
                <a16:creationId xmlns:a16="http://schemas.microsoft.com/office/drawing/2014/main" id="{A2FC1DB8-3394-8E5B-790F-5E22E23E5866}"/>
              </a:ext>
            </a:extLst>
          </p:cNvPr>
          <p:cNvSpPr/>
          <p:nvPr/>
        </p:nvSpPr>
        <p:spPr>
          <a:xfrm rot="19854080">
            <a:off x="9958390" y="1046668"/>
            <a:ext cx="360207" cy="3394803"/>
          </a:xfrm>
          <a:prstGeom prst="up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28" name="Up-down Arrow 27">
            <a:extLst>
              <a:ext uri="{FF2B5EF4-FFF2-40B4-BE49-F238E27FC236}">
                <a16:creationId xmlns:a16="http://schemas.microsoft.com/office/drawing/2014/main" id="{70EEEA41-400D-DA15-03F9-0C3DF074868A}"/>
              </a:ext>
            </a:extLst>
          </p:cNvPr>
          <p:cNvSpPr/>
          <p:nvPr/>
        </p:nvSpPr>
        <p:spPr>
          <a:xfrm rot="5400000">
            <a:off x="8519192" y="3790873"/>
            <a:ext cx="339601" cy="2628900"/>
          </a:xfrm>
          <a:prstGeom prst="up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32" name="Up-down Arrow 31">
            <a:extLst>
              <a:ext uri="{FF2B5EF4-FFF2-40B4-BE49-F238E27FC236}">
                <a16:creationId xmlns:a16="http://schemas.microsoft.com/office/drawing/2014/main" id="{006E9760-CF0D-20D8-CCC5-D7E914D2146F}"/>
              </a:ext>
            </a:extLst>
          </p:cNvPr>
          <p:cNvSpPr/>
          <p:nvPr/>
        </p:nvSpPr>
        <p:spPr>
          <a:xfrm rot="2373328">
            <a:off x="7596923" y="3067399"/>
            <a:ext cx="207668" cy="1751737"/>
          </a:xfrm>
          <a:prstGeom prst="up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33" name="Up-down Arrow 32">
            <a:extLst>
              <a:ext uri="{FF2B5EF4-FFF2-40B4-BE49-F238E27FC236}">
                <a16:creationId xmlns:a16="http://schemas.microsoft.com/office/drawing/2014/main" id="{BBA002E4-6D30-1B9D-EE91-59177C2DFCF8}"/>
              </a:ext>
            </a:extLst>
          </p:cNvPr>
          <p:cNvSpPr/>
          <p:nvPr/>
        </p:nvSpPr>
        <p:spPr>
          <a:xfrm rot="19340304">
            <a:off x="9615535" y="3131193"/>
            <a:ext cx="202700" cy="1738605"/>
          </a:xfrm>
          <a:prstGeom prst="up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34" name="Up-down Arrow 33">
            <a:extLst>
              <a:ext uri="{FF2B5EF4-FFF2-40B4-BE49-F238E27FC236}">
                <a16:creationId xmlns:a16="http://schemas.microsoft.com/office/drawing/2014/main" id="{1B74AD6F-7DD2-0E6F-6705-869C15FBA354}"/>
              </a:ext>
            </a:extLst>
          </p:cNvPr>
          <p:cNvSpPr/>
          <p:nvPr/>
        </p:nvSpPr>
        <p:spPr>
          <a:xfrm flipH="1">
            <a:off x="8603202" y="1385888"/>
            <a:ext cx="269335" cy="1010837"/>
          </a:xfrm>
          <a:prstGeom prst="upDownArrow">
            <a:avLst>
              <a:gd name="adj1" fmla="val 50000"/>
              <a:gd name="adj2" fmla="val 49013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0AA4E7-331B-EE96-3129-B306E627070A}"/>
              </a:ext>
            </a:extLst>
          </p:cNvPr>
          <p:cNvSpPr txBox="1"/>
          <p:nvPr/>
        </p:nvSpPr>
        <p:spPr>
          <a:xfrm>
            <a:off x="264994" y="601246"/>
            <a:ext cx="38951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2400" dirty="0"/>
              <a:t>*FMRI is a scan that observes blood flow in the brain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D966194-A161-6609-9D50-21EA393C84D4}"/>
              </a:ext>
            </a:extLst>
          </p:cNvPr>
          <p:cNvSpPr txBox="1"/>
          <p:nvPr/>
        </p:nvSpPr>
        <p:spPr>
          <a:xfrm>
            <a:off x="264994" y="1796560"/>
            <a:ext cx="37872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2400" dirty="0"/>
              <a:t>*It  shows us what parts of the brain are active at the same time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56F171F-019A-77D2-009E-6A5835538595}"/>
              </a:ext>
            </a:extLst>
          </p:cNvPr>
          <p:cNvSpPr txBox="1"/>
          <p:nvPr/>
        </p:nvSpPr>
        <p:spPr>
          <a:xfrm>
            <a:off x="293532" y="3286069"/>
            <a:ext cx="36930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2400" dirty="0"/>
              <a:t>*From this we can infer which segments of the brain communicate with each other and how often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F9C9395-07A3-EF20-C045-308177AEBC21}"/>
              </a:ext>
            </a:extLst>
          </p:cNvPr>
          <p:cNvSpPr txBox="1"/>
          <p:nvPr/>
        </p:nvSpPr>
        <p:spPr>
          <a:xfrm>
            <a:off x="7517081" y="5486235"/>
            <a:ext cx="2486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dirty="0"/>
              <a:t>Figure of the DMN of a healthy brain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17DB734-5811-B5B6-4662-C2576AC16F77}"/>
              </a:ext>
            </a:extLst>
          </p:cNvPr>
          <p:cNvSpPr txBox="1"/>
          <p:nvPr/>
        </p:nvSpPr>
        <p:spPr>
          <a:xfrm>
            <a:off x="8396803" y="2442639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dirty="0">
                <a:solidFill>
                  <a:srgbClr val="00B050"/>
                </a:solidFill>
              </a:rPr>
              <a:t>0.115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396C78D-779C-CA96-A231-9ADA5ECCEF61}"/>
              </a:ext>
            </a:extLst>
          </p:cNvPr>
          <p:cNvSpPr txBox="1"/>
          <p:nvPr/>
        </p:nvSpPr>
        <p:spPr>
          <a:xfrm>
            <a:off x="9194182" y="2914650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dirty="0">
                <a:solidFill>
                  <a:srgbClr val="FF0000"/>
                </a:solidFill>
              </a:rPr>
              <a:t>0.091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ECAF7BB-8E4C-81A7-3644-1D80B7E70E0F}"/>
              </a:ext>
            </a:extLst>
          </p:cNvPr>
          <p:cNvSpPr txBox="1"/>
          <p:nvPr/>
        </p:nvSpPr>
        <p:spPr>
          <a:xfrm>
            <a:off x="7558747" y="2918891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dirty="0">
                <a:solidFill>
                  <a:srgbClr val="FF0000"/>
                </a:solidFill>
              </a:rPr>
              <a:t>0.081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A1CE04F-596C-75F2-0C7D-6136E4528993}"/>
              </a:ext>
            </a:extLst>
          </p:cNvPr>
          <p:cNvSpPr txBox="1"/>
          <p:nvPr/>
        </p:nvSpPr>
        <p:spPr>
          <a:xfrm>
            <a:off x="8396803" y="1020132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dirty="0">
                <a:solidFill>
                  <a:srgbClr val="00B050"/>
                </a:solidFill>
              </a:rPr>
              <a:t>0.182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57AE8B0-9FD0-98FF-7DFC-CD0046955FF0}"/>
              </a:ext>
            </a:extLst>
          </p:cNvPr>
          <p:cNvSpPr txBox="1"/>
          <p:nvPr/>
        </p:nvSpPr>
        <p:spPr>
          <a:xfrm>
            <a:off x="9330400" y="863055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dirty="0">
                <a:solidFill>
                  <a:srgbClr val="FF0000"/>
                </a:solidFill>
              </a:rPr>
              <a:t>-0.119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4B70B53-31B9-8483-040E-EC83C523169B}"/>
              </a:ext>
            </a:extLst>
          </p:cNvPr>
          <p:cNvSpPr txBox="1"/>
          <p:nvPr/>
        </p:nvSpPr>
        <p:spPr>
          <a:xfrm>
            <a:off x="7314272" y="864725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dirty="0">
                <a:solidFill>
                  <a:srgbClr val="FF0000"/>
                </a:solidFill>
              </a:rPr>
              <a:t>0.110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124A867-E04E-86F1-2F76-7E76093B28D5}"/>
              </a:ext>
            </a:extLst>
          </p:cNvPr>
          <p:cNvSpPr txBox="1"/>
          <p:nvPr/>
        </p:nvSpPr>
        <p:spPr>
          <a:xfrm>
            <a:off x="10188442" y="4585069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dirty="0">
                <a:solidFill>
                  <a:srgbClr val="00B050"/>
                </a:solidFill>
              </a:rPr>
              <a:t>0.274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E9C20E9-669C-6B9E-4BBC-F2CEF631FD70}"/>
              </a:ext>
            </a:extLst>
          </p:cNvPr>
          <p:cNvSpPr txBox="1"/>
          <p:nvPr/>
        </p:nvSpPr>
        <p:spPr>
          <a:xfrm>
            <a:off x="11017965" y="3859901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dirty="0">
                <a:solidFill>
                  <a:srgbClr val="FF0000"/>
                </a:solidFill>
              </a:rPr>
              <a:t>0.042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BAA1460-AB02-BCDB-0DB5-615C7466984D}"/>
              </a:ext>
            </a:extLst>
          </p:cNvPr>
          <p:cNvSpPr txBox="1"/>
          <p:nvPr/>
        </p:nvSpPr>
        <p:spPr>
          <a:xfrm>
            <a:off x="9499405" y="5224651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dirty="0">
                <a:solidFill>
                  <a:srgbClr val="FF0000"/>
                </a:solidFill>
              </a:rPr>
              <a:t>0.030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3825F32-E9AA-84F2-7422-910BE8E3603B}"/>
              </a:ext>
            </a:extLst>
          </p:cNvPr>
          <p:cNvSpPr txBox="1"/>
          <p:nvPr/>
        </p:nvSpPr>
        <p:spPr>
          <a:xfrm>
            <a:off x="6480615" y="459202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dirty="0">
                <a:solidFill>
                  <a:srgbClr val="00B050"/>
                </a:solidFill>
              </a:rPr>
              <a:t>0.274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E0E9BCF-4F34-3FFB-CD64-141D7EAB2464}"/>
              </a:ext>
            </a:extLst>
          </p:cNvPr>
          <p:cNvSpPr txBox="1"/>
          <p:nvPr/>
        </p:nvSpPr>
        <p:spPr>
          <a:xfrm>
            <a:off x="5729014" y="3886233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dirty="0">
                <a:solidFill>
                  <a:srgbClr val="FF0000"/>
                </a:solidFill>
              </a:rPr>
              <a:t>0.012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D827834-47F1-DADD-CF31-77AFF0D4D215}"/>
              </a:ext>
            </a:extLst>
          </p:cNvPr>
          <p:cNvSpPr txBox="1"/>
          <p:nvPr/>
        </p:nvSpPr>
        <p:spPr>
          <a:xfrm>
            <a:off x="7062925" y="524957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dirty="0">
                <a:solidFill>
                  <a:srgbClr val="FF0000"/>
                </a:solidFill>
              </a:rPr>
              <a:t>0.031</a:t>
            </a:r>
          </a:p>
        </p:txBody>
      </p:sp>
    </p:spTree>
    <p:extLst>
      <p:ext uri="{BB962C8B-B14F-4D97-AF65-F5344CB8AC3E}">
        <p14:creationId xmlns:p14="http://schemas.microsoft.com/office/powerpoint/2010/main" val="3104063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F62F87BE-E3D4-1CB6-F0D6-2FB1EA080463}"/>
              </a:ext>
            </a:extLst>
          </p:cNvPr>
          <p:cNvSpPr/>
          <p:nvPr/>
        </p:nvSpPr>
        <p:spPr>
          <a:xfrm>
            <a:off x="8009206" y="-11328"/>
            <a:ext cx="1457325" cy="14225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K" dirty="0"/>
              <a:t>mPFC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9753B69-E0DA-83DB-7E6F-6AE331925CF5}"/>
              </a:ext>
            </a:extLst>
          </p:cNvPr>
          <p:cNvSpPr/>
          <p:nvPr/>
        </p:nvSpPr>
        <p:spPr>
          <a:xfrm>
            <a:off x="5629275" y="4314817"/>
            <a:ext cx="1618875" cy="1500187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K" dirty="0"/>
              <a:t>RIPC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DE7648C-EE00-A93A-730E-F5094AEB17C3}"/>
              </a:ext>
            </a:extLst>
          </p:cNvPr>
          <p:cNvSpPr/>
          <p:nvPr/>
        </p:nvSpPr>
        <p:spPr>
          <a:xfrm>
            <a:off x="10129837" y="4314817"/>
            <a:ext cx="1618875" cy="155733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K" dirty="0"/>
              <a:t>LIPC</a:t>
            </a:r>
          </a:p>
        </p:txBody>
      </p:sp>
      <p:sp>
        <p:nvSpPr>
          <p:cNvPr id="19" name="Up-down Arrow 18">
            <a:extLst>
              <a:ext uri="{FF2B5EF4-FFF2-40B4-BE49-F238E27FC236}">
                <a16:creationId xmlns:a16="http://schemas.microsoft.com/office/drawing/2014/main" id="{B1F5E61F-CD93-F04D-1567-9C19F9A8ECFF}"/>
              </a:ext>
            </a:extLst>
          </p:cNvPr>
          <p:cNvSpPr/>
          <p:nvPr/>
        </p:nvSpPr>
        <p:spPr>
          <a:xfrm rot="5400000">
            <a:off x="8519192" y="3790873"/>
            <a:ext cx="339601" cy="2628900"/>
          </a:xfrm>
          <a:prstGeom prst="up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948818-D391-812A-8359-5FBCD3BAC944}"/>
              </a:ext>
            </a:extLst>
          </p:cNvPr>
          <p:cNvSpPr txBox="1"/>
          <p:nvPr/>
        </p:nvSpPr>
        <p:spPr>
          <a:xfrm>
            <a:off x="7517081" y="5486235"/>
            <a:ext cx="2486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dirty="0"/>
              <a:t>Figure of the DMN of a person with ASD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21B86CE-5EAE-0925-46A8-EBB0765EF9BC}"/>
              </a:ext>
            </a:extLst>
          </p:cNvPr>
          <p:cNvSpPr txBox="1"/>
          <p:nvPr/>
        </p:nvSpPr>
        <p:spPr>
          <a:xfrm>
            <a:off x="295894" y="674635"/>
            <a:ext cx="38951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2400" dirty="0"/>
              <a:t>*The Default Mode Network is a section of the brain active when we aren’t doing a task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3E6BC27-1BEF-8C87-A524-5DCF0CF87E9A}"/>
              </a:ext>
            </a:extLst>
          </p:cNvPr>
          <p:cNvSpPr txBox="1"/>
          <p:nvPr/>
        </p:nvSpPr>
        <p:spPr>
          <a:xfrm>
            <a:off x="295894" y="2087846"/>
            <a:ext cx="37872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2400" dirty="0"/>
              <a:t>*The DMN of a person with Autism functions differently than that of a healthy human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27E175A-7AB8-DDBB-C9E1-79F48F930F56}"/>
              </a:ext>
            </a:extLst>
          </p:cNvPr>
          <p:cNvSpPr txBox="1"/>
          <p:nvPr/>
        </p:nvSpPr>
        <p:spPr>
          <a:xfrm>
            <a:off x="350669" y="3496410"/>
            <a:ext cx="37504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2400" dirty="0"/>
              <a:t>*Some parts communicate less, while others much more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70BFFA3-6042-EDBA-BD2F-BC7B5DE27B7D}"/>
              </a:ext>
            </a:extLst>
          </p:cNvPr>
          <p:cNvSpPr/>
          <p:nvPr/>
        </p:nvSpPr>
        <p:spPr>
          <a:xfrm>
            <a:off x="8158162" y="2400300"/>
            <a:ext cx="1143000" cy="10287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PK" dirty="0"/>
              <a:t>PCC</a:t>
            </a:r>
          </a:p>
        </p:txBody>
      </p:sp>
      <p:sp>
        <p:nvSpPr>
          <p:cNvPr id="31" name="Up-down Arrow 30">
            <a:extLst>
              <a:ext uri="{FF2B5EF4-FFF2-40B4-BE49-F238E27FC236}">
                <a16:creationId xmlns:a16="http://schemas.microsoft.com/office/drawing/2014/main" id="{9617AC6F-0885-575C-D567-5265EF443206}"/>
              </a:ext>
            </a:extLst>
          </p:cNvPr>
          <p:cNvSpPr/>
          <p:nvPr/>
        </p:nvSpPr>
        <p:spPr>
          <a:xfrm rot="1645672">
            <a:off x="7169950" y="1027855"/>
            <a:ext cx="360207" cy="3394803"/>
          </a:xfrm>
          <a:prstGeom prst="up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32" name="Up-down Arrow 31">
            <a:extLst>
              <a:ext uri="{FF2B5EF4-FFF2-40B4-BE49-F238E27FC236}">
                <a16:creationId xmlns:a16="http://schemas.microsoft.com/office/drawing/2014/main" id="{432D12BA-8B23-FCD1-884B-A0856FD0095E}"/>
              </a:ext>
            </a:extLst>
          </p:cNvPr>
          <p:cNvSpPr/>
          <p:nvPr/>
        </p:nvSpPr>
        <p:spPr>
          <a:xfrm rot="19854080">
            <a:off x="9958390" y="1046668"/>
            <a:ext cx="360207" cy="3394803"/>
          </a:xfrm>
          <a:prstGeom prst="up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33" name="Up-down Arrow 32">
            <a:extLst>
              <a:ext uri="{FF2B5EF4-FFF2-40B4-BE49-F238E27FC236}">
                <a16:creationId xmlns:a16="http://schemas.microsoft.com/office/drawing/2014/main" id="{6E2DE071-9820-D399-540A-044636C2EB7F}"/>
              </a:ext>
            </a:extLst>
          </p:cNvPr>
          <p:cNvSpPr/>
          <p:nvPr/>
        </p:nvSpPr>
        <p:spPr>
          <a:xfrm rot="5400000">
            <a:off x="8519192" y="3790873"/>
            <a:ext cx="339601" cy="2628900"/>
          </a:xfrm>
          <a:prstGeom prst="up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34" name="Up-down Arrow 33">
            <a:extLst>
              <a:ext uri="{FF2B5EF4-FFF2-40B4-BE49-F238E27FC236}">
                <a16:creationId xmlns:a16="http://schemas.microsoft.com/office/drawing/2014/main" id="{841B8B49-B695-805F-CD59-93606964277A}"/>
              </a:ext>
            </a:extLst>
          </p:cNvPr>
          <p:cNvSpPr/>
          <p:nvPr/>
        </p:nvSpPr>
        <p:spPr>
          <a:xfrm rot="2373328">
            <a:off x="7596923" y="3067399"/>
            <a:ext cx="207668" cy="1751737"/>
          </a:xfrm>
          <a:prstGeom prst="up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35" name="Up-down Arrow 34">
            <a:extLst>
              <a:ext uri="{FF2B5EF4-FFF2-40B4-BE49-F238E27FC236}">
                <a16:creationId xmlns:a16="http://schemas.microsoft.com/office/drawing/2014/main" id="{87A14867-F019-7076-D27E-5A555439B7AD}"/>
              </a:ext>
            </a:extLst>
          </p:cNvPr>
          <p:cNvSpPr/>
          <p:nvPr/>
        </p:nvSpPr>
        <p:spPr>
          <a:xfrm rot="19340304">
            <a:off x="9615535" y="3131193"/>
            <a:ext cx="202700" cy="1738605"/>
          </a:xfrm>
          <a:prstGeom prst="up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36" name="Up-down Arrow 35">
            <a:extLst>
              <a:ext uri="{FF2B5EF4-FFF2-40B4-BE49-F238E27FC236}">
                <a16:creationId xmlns:a16="http://schemas.microsoft.com/office/drawing/2014/main" id="{60BE2D6B-DD23-A501-3C78-C6ACFA3F9AA8}"/>
              </a:ext>
            </a:extLst>
          </p:cNvPr>
          <p:cNvSpPr/>
          <p:nvPr/>
        </p:nvSpPr>
        <p:spPr>
          <a:xfrm flipH="1">
            <a:off x="8603202" y="1385888"/>
            <a:ext cx="269335" cy="1010837"/>
          </a:xfrm>
          <a:prstGeom prst="upDownArrow">
            <a:avLst>
              <a:gd name="adj1" fmla="val 50000"/>
              <a:gd name="adj2" fmla="val 49013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4C285E-7BDF-BCF7-AC87-61948BAFEAEE}"/>
              </a:ext>
            </a:extLst>
          </p:cNvPr>
          <p:cNvSpPr txBox="1"/>
          <p:nvPr/>
        </p:nvSpPr>
        <p:spPr>
          <a:xfrm>
            <a:off x="8398306" y="2396725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dirty="0">
                <a:solidFill>
                  <a:srgbClr val="FF0000"/>
                </a:solidFill>
              </a:rPr>
              <a:t>0.152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5E0C294-4A12-6DAE-6696-E13F5187184B}"/>
              </a:ext>
            </a:extLst>
          </p:cNvPr>
          <p:cNvSpPr txBox="1"/>
          <p:nvPr/>
        </p:nvSpPr>
        <p:spPr>
          <a:xfrm>
            <a:off x="9194182" y="2914650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dirty="0">
                <a:solidFill>
                  <a:srgbClr val="FF0000"/>
                </a:solidFill>
              </a:rPr>
              <a:t>0.334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FCC05E2-5674-E6D1-6661-73CED11B3CD2}"/>
              </a:ext>
            </a:extLst>
          </p:cNvPr>
          <p:cNvSpPr txBox="1"/>
          <p:nvPr/>
        </p:nvSpPr>
        <p:spPr>
          <a:xfrm>
            <a:off x="7518820" y="2924709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dirty="0">
                <a:solidFill>
                  <a:srgbClr val="FF0000"/>
                </a:solidFill>
              </a:rPr>
              <a:t>0.191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681ED3E-7836-272E-2847-F727EC98A720}"/>
              </a:ext>
            </a:extLst>
          </p:cNvPr>
          <p:cNvSpPr txBox="1"/>
          <p:nvPr/>
        </p:nvSpPr>
        <p:spPr>
          <a:xfrm>
            <a:off x="8407885" y="924090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dirty="0">
                <a:solidFill>
                  <a:srgbClr val="00B050"/>
                </a:solidFill>
              </a:rPr>
              <a:t>0.282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FD40B95-4313-CA34-C2AB-4A63B50FE21F}"/>
              </a:ext>
            </a:extLst>
          </p:cNvPr>
          <p:cNvSpPr txBox="1"/>
          <p:nvPr/>
        </p:nvSpPr>
        <p:spPr>
          <a:xfrm>
            <a:off x="9330400" y="863055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dirty="0">
                <a:solidFill>
                  <a:srgbClr val="FF0000"/>
                </a:solidFill>
              </a:rPr>
              <a:t>0.029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702A88D-CA5F-96DD-9BB6-B06CCF53A750}"/>
              </a:ext>
            </a:extLst>
          </p:cNvPr>
          <p:cNvSpPr txBox="1"/>
          <p:nvPr/>
        </p:nvSpPr>
        <p:spPr>
          <a:xfrm>
            <a:off x="7460535" y="905467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dirty="0">
                <a:solidFill>
                  <a:srgbClr val="00B050"/>
                </a:solidFill>
              </a:rPr>
              <a:t>0.091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C034AB2-7A79-5AC9-E1AF-AEE69CA086C0}"/>
              </a:ext>
            </a:extLst>
          </p:cNvPr>
          <p:cNvSpPr txBox="1"/>
          <p:nvPr/>
        </p:nvSpPr>
        <p:spPr>
          <a:xfrm>
            <a:off x="10188442" y="4585069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dirty="0">
                <a:solidFill>
                  <a:srgbClr val="00B050"/>
                </a:solidFill>
              </a:rPr>
              <a:t>0.026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D06EB58-8852-CD84-0FDC-AFD422BB1D49}"/>
              </a:ext>
            </a:extLst>
          </p:cNvPr>
          <p:cNvSpPr txBox="1"/>
          <p:nvPr/>
        </p:nvSpPr>
        <p:spPr>
          <a:xfrm>
            <a:off x="9499405" y="5224651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dirty="0">
                <a:solidFill>
                  <a:srgbClr val="FF0000"/>
                </a:solidFill>
              </a:rPr>
              <a:t>0.030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3E03D43-9F86-704D-05A3-B5BFE568EB6C}"/>
              </a:ext>
            </a:extLst>
          </p:cNvPr>
          <p:cNvSpPr txBox="1"/>
          <p:nvPr/>
        </p:nvSpPr>
        <p:spPr>
          <a:xfrm>
            <a:off x="6480615" y="459202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dirty="0">
                <a:solidFill>
                  <a:srgbClr val="FF0000"/>
                </a:solidFill>
              </a:rPr>
              <a:t>0.167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7347D56-DC5A-EACE-2E6E-8276CE696C75}"/>
              </a:ext>
            </a:extLst>
          </p:cNvPr>
          <p:cNvSpPr txBox="1"/>
          <p:nvPr/>
        </p:nvSpPr>
        <p:spPr>
          <a:xfrm>
            <a:off x="5679227" y="3971335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dirty="0">
                <a:solidFill>
                  <a:srgbClr val="00B050"/>
                </a:solidFill>
              </a:rPr>
              <a:t>0.099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F746152-ACB6-F750-06F2-98F9147227A3}"/>
              </a:ext>
            </a:extLst>
          </p:cNvPr>
          <p:cNvSpPr txBox="1"/>
          <p:nvPr/>
        </p:nvSpPr>
        <p:spPr>
          <a:xfrm>
            <a:off x="11058141" y="400288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dirty="0">
                <a:solidFill>
                  <a:srgbClr val="FF0000"/>
                </a:solidFill>
              </a:rPr>
              <a:t>0.017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1D89BF5-9BFE-C38A-EABF-665619BF4D66}"/>
              </a:ext>
            </a:extLst>
          </p:cNvPr>
          <p:cNvSpPr txBox="1"/>
          <p:nvPr/>
        </p:nvSpPr>
        <p:spPr>
          <a:xfrm>
            <a:off x="7072342" y="5304840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dirty="0">
                <a:solidFill>
                  <a:srgbClr val="00B050"/>
                </a:solidFill>
              </a:rPr>
              <a:t>0.056</a:t>
            </a:r>
          </a:p>
        </p:txBody>
      </p:sp>
    </p:spTree>
    <p:extLst>
      <p:ext uri="{BB962C8B-B14F-4D97-AF65-F5344CB8AC3E}">
        <p14:creationId xmlns:p14="http://schemas.microsoft.com/office/powerpoint/2010/main" val="3719504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B0CEE3A-FB04-76BC-0FA0-DCD80D306304}"/>
              </a:ext>
            </a:extLst>
          </p:cNvPr>
          <p:cNvSpPr/>
          <p:nvPr/>
        </p:nvSpPr>
        <p:spPr>
          <a:xfrm>
            <a:off x="8001000" y="-36618"/>
            <a:ext cx="1457325" cy="14225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K" dirty="0"/>
              <a:t>mPFC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0414FCB-CB0C-A2BE-E66F-A6981DA533EF}"/>
              </a:ext>
            </a:extLst>
          </p:cNvPr>
          <p:cNvSpPr/>
          <p:nvPr/>
        </p:nvSpPr>
        <p:spPr>
          <a:xfrm>
            <a:off x="5629275" y="4314817"/>
            <a:ext cx="1618875" cy="1500187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K" dirty="0"/>
              <a:t>RIPC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6A1F1A3-1B49-C224-F991-BC18DF816966}"/>
              </a:ext>
            </a:extLst>
          </p:cNvPr>
          <p:cNvSpPr/>
          <p:nvPr/>
        </p:nvSpPr>
        <p:spPr>
          <a:xfrm>
            <a:off x="10129837" y="4314817"/>
            <a:ext cx="1618875" cy="155733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K" dirty="0"/>
              <a:t>LIPC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20CB33-76A1-2F9D-3CC3-042142A352B0}"/>
              </a:ext>
            </a:extLst>
          </p:cNvPr>
          <p:cNvSpPr txBox="1"/>
          <p:nvPr/>
        </p:nvSpPr>
        <p:spPr>
          <a:xfrm>
            <a:off x="295528" y="674635"/>
            <a:ext cx="38951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2400" dirty="0"/>
              <a:t>*Using FMRI scans we can find the difference between the two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F42612-1EF8-2C33-46BE-86AE9FB38269}"/>
              </a:ext>
            </a:extLst>
          </p:cNvPr>
          <p:cNvSpPr txBox="1"/>
          <p:nvPr/>
        </p:nvSpPr>
        <p:spPr>
          <a:xfrm>
            <a:off x="295528" y="2050073"/>
            <a:ext cx="37872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2400" dirty="0"/>
              <a:t>*It  shows us what parts of the brain are active at the same time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DF23AB-0B23-BA0C-1531-5C296036596E}"/>
              </a:ext>
            </a:extLst>
          </p:cNvPr>
          <p:cNvSpPr txBox="1"/>
          <p:nvPr/>
        </p:nvSpPr>
        <p:spPr>
          <a:xfrm>
            <a:off x="295528" y="3425511"/>
            <a:ext cx="36930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2400" dirty="0"/>
              <a:t>*We can better understand how mental illnesses work and how we can treat them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A03190-8C5F-EF3D-1576-64777CD9588A}"/>
              </a:ext>
            </a:extLst>
          </p:cNvPr>
          <p:cNvSpPr txBox="1"/>
          <p:nvPr/>
        </p:nvSpPr>
        <p:spPr>
          <a:xfrm>
            <a:off x="7517081" y="5486235"/>
            <a:ext cx="2486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dirty="0"/>
              <a:t>Figure of the difference between the two DMN’s</a:t>
            </a:r>
          </a:p>
        </p:txBody>
      </p:sp>
      <p:sp>
        <p:nvSpPr>
          <p:cNvPr id="21" name="Up-down Arrow 20">
            <a:extLst>
              <a:ext uri="{FF2B5EF4-FFF2-40B4-BE49-F238E27FC236}">
                <a16:creationId xmlns:a16="http://schemas.microsoft.com/office/drawing/2014/main" id="{DCA0777A-213F-2B61-339D-0FDBF5CC1EA9}"/>
              </a:ext>
            </a:extLst>
          </p:cNvPr>
          <p:cNvSpPr/>
          <p:nvPr/>
        </p:nvSpPr>
        <p:spPr>
          <a:xfrm rot="5400000">
            <a:off x="8519192" y="3790873"/>
            <a:ext cx="339601" cy="2628900"/>
          </a:xfrm>
          <a:prstGeom prst="up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A65C6E6-49E2-958E-702F-46FE97257B0A}"/>
              </a:ext>
            </a:extLst>
          </p:cNvPr>
          <p:cNvSpPr/>
          <p:nvPr/>
        </p:nvSpPr>
        <p:spPr>
          <a:xfrm>
            <a:off x="8158162" y="2400300"/>
            <a:ext cx="1143000" cy="10287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PK" dirty="0"/>
              <a:t>PCC</a:t>
            </a:r>
          </a:p>
        </p:txBody>
      </p:sp>
      <p:sp>
        <p:nvSpPr>
          <p:cNvPr id="23" name="Up-down Arrow 22">
            <a:extLst>
              <a:ext uri="{FF2B5EF4-FFF2-40B4-BE49-F238E27FC236}">
                <a16:creationId xmlns:a16="http://schemas.microsoft.com/office/drawing/2014/main" id="{2F61446A-A344-1A16-D42D-593F05BCEAEB}"/>
              </a:ext>
            </a:extLst>
          </p:cNvPr>
          <p:cNvSpPr/>
          <p:nvPr/>
        </p:nvSpPr>
        <p:spPr>
          <a:xfrm rot="1645672">
            <a:off x="7169950" y="1027855"/>
            <a:ext cx="360207" cy="3394803"/>
          </a:xfrm>
          <a:prstGeom prst="up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24" name="Up-down Arrow 23">
            <a:extLst>
              <a:ext uri="{FF2B5EF4-FFF2-40B4-BE49-F238E27FC236}">
                <a16:creationId xmlns:a16="http://schemas.microsoft.com/office/drawing/2014/main" id="{91D152DA-4846-32D9-A728-6844CB7E5A70}"/>
              </a:ext>
            </a:extLst>
          </p:cNvPr>
          <p:cNvSpPr/>
          <p:nvPr/>
        </p:nvSpPr>
        <p:spPr>
          <a:xfrm rot="19854080">
            <a:off x="9958390" y="1046668"/>
            <a:ext cx="360207" cy="3394803"/>
          </a:xfrm>
          <a:prstGeom prst="up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25" name="Up-down Arrow 24">
            <a:extLst>
              <a:ext uri="{FF2B5EF4-FFF2-40B4-BE49-F238E27FC236}">
                <a16:creationId xmlns:a16="http://schemas.microsoft.com/office/drawing/2014/main" id="{31D53DCC-E22A-09C5-E248-884DE28AF724}"/>
              </a:ext>
            </a:extLst>
          </p:cNvPr>
          <p:cNvSpPr/>
          <p:nvPr/>
        </p:nvSpPr>
        <p:spPr>
          <a:xfrm rot="5400000">
            <a:off x="8519192" y="3790873"/>
            <a:ext cx="339601" cy="2628900"/>
          </a:xfrm>
          <a:prstGeom prst="up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26" name="Up-down Arrow 25">
            <a:extLst>
              <a:ext uri="{FF2B5EF4-FFF2-40B4-BE49-F238E27FC236}">
                <a16:creationId xmlns:a16="http://schemas.microsoft.com/office/drawing/2014/main" id="{3B021FDA-AC25-0E9E-EF34-465E3E3AACDC}"/>
              </a:ext>
            </a:extLst>
          </p:cNvPr>
          <p:cNvSpPr/>
          <p:nvPr/>
        </p:nvSpPr>
        <p:spPr>
          <a:xfrm rot="2373328">
            <a:off x="7596923" y="3067399"/>
            <a:ext cx="207668" cy="1751737"/>
          </a:xfrm>
          <a:prstGeom prst="up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27" name="Up-down Arrow 26">
            <a:extLst>
              <a:ext uri="{FF2B5EF4-FFF2-40B4-BE49-F238E27FC236}">
                <a16:creationId xmlns:a16="http://schemas.microsoft.com/office/drawing/2014/main" id="{CEA76461-73F8-5075-F642-53819AF1DD00}"/>
              </a:ext>
            </a:extLst>
          </p:cNvPr>
          <p:cNvSpPr/>
          <p:nvPr/>
        </p:nvSpPr>
        <p:spPr>
          <a:xfrm rot="19340304">
            <a:off x="9615535" y="3131193"/>
            <a:ext cx="202700" cy="1738605"/>
          </a:xfrm>
          <a:prstGeom prst="up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28" name="Up-down Arrow 27">
            <a:extLst>
              <a:ext uri="{FF2B5EF4-FFF2-40B4-BE49-F238E27FC236}">
                <a16:creationId xmlns:a16="http://schemas.microsoft.com/office/drawing/2014/main" id="{7EC39A58-15A8-184D-F755-97122048E9BD}"/>
              </a:ext>
            </a:extLst>
          </p:cNvPr>
          <p:cNvSpPr/>
          <p:nvPr/>
        </p:nvSpPr>
        <p:spPr>
          <a:xfrm flipH="1">
            <a:off x="8603202" y="1385888"/>
            <a:ext cx="269335" cy="1010837"/>
          </a:xfrm>
          <a:prstGeom prst="upDownArrow">
            <a:avLst>
              <a:gd name="adj1" fmla="val 50000"/>
              <a:gd name="adj2" fmla="val 49013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3F40130-E09F-5513-44AD-757439C8AFE4}"/>
              </a:ext>
            </a:extLst>
          </p:cNvPr>
          <p:cNvSpPr txBox="1"/>
          <p:nvPr/>
        </p:nvSpPr>
        <p:spPr>
          <a:xfrm>
            <a:off x="8374906" y="2442054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dirty="0">
                <a:solidFill>
                  <a:srgbClr val="FF0000"/>
                </a:solidFill>
              </a:rPr>
              <a:t>0.268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7170F01-AB6D-3379-812D-94DDFE598FD5}"/>
              </a:ext>
            </a:extLst>
          </p:cNvPr>
          <p:cNvSpPr txBox="1"/>
          <p:nvPr/>
        </p:nvSpPr>
        <p:spPr>
          <a:xfrm>
            <a:off x="9239915" y="2972229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dirty="0">
                <a:solidFill>
                  <a:srgbClr val="00B050"/>
                </a:solidFill>
              </a:rPr>
              <a:t>0.426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61518B-C88E-75CB-031F-5A842294D2E3}"/>
              </a:ext>
            </a:extLst>
          </p:cNvPr>
          <p:cNvSpPr txBox="1"/>
          <p:nvPr/>
        </p:nvSpPr>
        <p:spPr>
          <a:xfrm>
            <a:off x="7493541" y="2939269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dirty="0">
                <a:solidFill>
                  <a:srgbClr val="FF0000"/>
                </a:solidFill>
              </a:rPr>
              <a:t>0.109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4E22ECD-ED9A-470C-3974-796B909415C4}"/>
              </a:ext>
            </a:extLst>
          </p:cNvPr>
          <p:cNvSpPr txBox="1"/>
          <p:nvPr/>
        </p:nvSpPr>
        <p:spPr>
          <a:xfrm>
            <a:off x="8407885" y="924090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dirty="0">
                <a:solidFill>
                  <a:srgbClr val="00B050"/>
                </a:solidFill>
              </a:rPr>
              <a:t>0.038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7D9FCE-E429-F63D-CC4C-E1A9F1908A53}"/>
              </a:ext>
            </a:extLst>
          </p:cNvPr>
          <p:cNvSpPr txBox="1"/>
          <p:nvPr/>
        </p:nvSpPr>
        <p:spPr>
          <a:xfrm>
            <a:off x="9330400" y="863055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dirty="0">
                <a:solidFill>
                  <a:srgbClr val="00B050"/>
                </a:solidFill>
              </a:rPr>
              <a:t>0.089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D739108-A128-FF97-E3A1-B5CAF24D73FC}"/>
              </a:ext>
            </a:extLst>
          </p:cNvPr>
          <p:cNvSpPr txBox="1"/>
          <p:nvPr/>
        </p:nvSpPr>
        <p:spPr>
          <a:xfrm>
            <a:off x="7460535" y="845475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dirty="0">
                <a:solidFill>
                  <a:srgbClr val="00B050"/>
                </a:solidFill>
              </a:rPr>
              <a:t>0.201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02732F6-6586-1FEC-9DCF-2190DE0B6285}"/>
              </a:ext>
            </a:extLst>
          </p:cNvPr>
          <p:cNvSpPr txBox="1"/>
          <p:nvPr/>
        </p:nvSpPr>
        <p:spPr>
          <a:xfrm>
            <a:off x="10188442" y="4585069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dirty="0">
                <a:solidFill>
                  <a:srgbClr val="FF0000"/>
                </a:solidFill>
              </a:rPr>
              <a:t>0.248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FAA29FA-470B-62A5-3D2F-E9A6D87747D8}"/>
              </a:ext>
            </a:extLst>
          </p:cNvPr>
          <p:cNvSpPr txBox="1"/>
          <p:nvPr/>
        </p:nvSpPr>
        <p:spPr>
          <a:xfrm>
            <a:off x="9499405" y="5224651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dirty="0">
                <a:solidFill>
                  <a:srgbClr val="FF0000"/>
                </a:solidFill>
              </a:rPr>
              <a:t>0.077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04FED8D-9AAF-8405-01A7-AADE88D0CA6F}"/>
              </a:ext>
            </a:extLst>
          </p:cNvPr>
          <p:cNvSpPr txBox="1"/>
          <p:nvPr/>
        </p:nvSpPr>
        <p:spPr>
          <a:xfrm>
            <a:off x="6480615" y="459202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dirty="0">
                <a:solidFill>
                  <a:srgbClr val="FF0000"/>
                </a:solidFill>
              </a:rPr>
              <a:t>0.080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9FD746C-35CB-E420-64E8-4F74A20BF74A}"/>
              </a:ext>
            </a:extLst>
          </p:cNvPr>
          <p:cNvSpPr txBox="1"/>
          <p:nvPr/>
        </p:nvSpPr>
        <p:spPr>
          <a:xfrm>
            <a:off x="11058141" y="400288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dirty="0">
                <a:solidFill>
                  <a:srgbClr val="00B050"/>
                </a:solidFill>
              </a:rPr>
              <a:t>0.029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CF48CE9-A5B1-FC31-5653-15FD8AF536B2}"/>
              </a:ext>
            </a:extLst>
          </p:cNvPr>
          <p:cNvSpPr txBox="1"/>
          <p:nvPr/>
        </p:nvSpPr>
        <p:spPr>
          <a:xfrm>
            <a:off x="5652050" y="4315362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dirty="0">
                <a:solidFill>
                  <a:srgbClr val="00B050"/>
                </a:solidFill>
              </a:rPr>
              <a:t>0.116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78C0839-076C-1508-716B-9AC0FD00C95B}"/>
              </a:ext>
            </a:extLst>
          </p:cNvPr>
          <p:cNvSpPr txBox="1"/>
          <p:nvPr/>
        </p:nvSpPr>
        <p:spPr>
          <a:xfrm>
            <a:off x="7112467" y="5247064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dirty="0">
                <a:solidFill>
                  <a:srgbClr val="00B050"/>
                </a:solidFill>
              </a:rPr>
              <a:t>0.0876</a:t>
            </a:r>
          </a:p>
        </p:txBody>
      </p:sp>
    </p:spTree>
    <p:extLst>
      <p:ext uri="{BB962C8B-B14F-4D97-AF65-F5344CB8AC3E}">
        <p14:creationId xmlns:p14="http://schemas.microsoft.com/office/powerpoint/2010/main" val="324010596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{DC5592EF-20D9-654B-ADDB-A44653D7C6DB}tf10001119</Template>
  <TotalTime>241</TotalTime>
  <Words>210</Words>
  <Application>Microsoft Macintosh PowerPoint</Application>
  <PresentationFormat>Widescreen</PresentationFormat>
  <Paragraphs>61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Gill Sans MT</vt:lpstr>
      <vt:lpstr>Gallery</vt:lpstr>
      <vt:lpstr>On the DMN and FMRI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 the DMN and FMRI</dc:title>
  <dc:creator>Sherolock Holmes</dc:creator>
  <cp:lastModifiedBy>Sherolock Holmes</cp:lastModifiedBy>
  <cp:revision>2</cp:revision>
  <dcterms:created xsi:type="dcterms:W3CDTF">2026-01-05T05:44:04Z</dcterms:created>
  <dcterms:modified xsi:type="dcterms:W3CDTF">2026-01-05T09:45:46Z</dcterms:modified>
</cp:coreProperties>
</file>